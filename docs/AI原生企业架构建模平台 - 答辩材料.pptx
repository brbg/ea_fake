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各位评委、各位专家，大家好。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今天我带来的参赛作品是“AI 原生企业架构建模平台”。这是一个旨在通过人工智能技术，实现企业架构设计从自然语言描述到可视化建模，再到代码自动生成的一体化平台。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我们的核心优势在于“一句话出图”，极大地降低了架构设计的门槛；通过智能协作打破部门壁垒；并实现设计与代码的无缝衔接，真正做到设计即落地。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接下来，我将为大家详细介绍这个平台的功能与价值。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大家好，今天我们来探讨一下企业架构设计中面临的核心痛点。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首先是建模门槛高，这不仅仅是画图的问题，更是专业技能的壁垒，导致业务人员难以参与，设计容易脱离实际需求。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其次是画图效率低，手工绘制复杂的架构图耗时耗力，且修改成本极高。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第三是设计与开发脱节，图纸上的架构和实际代码实现往往是两张皮，这是很多系统后期难以维护的根源。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最后是协作混乱，缺乏有效的版本管理，导致多人协作时容易出现冲突和版本失控。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这些痛点不仅影响了效率，更制约了企业数字化转型的步伐。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各位好，这一页我们来介绍一下AI原生全流程建模平台的核心方案。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首先，这个平台的核心亮点在于“AI全程参与”，它不仅仅是一个工具，而是贯穿了从需求描述、智能建模、自动校验评审，到最终生成代码和数据库结构的全过程，真正实现了一站式的闭环承接。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支撑这个平台的有三大核心支柱：一是智能建模引擎，它能精准理解业务需求；二是内核级的AI融合，确保建模过程的智能纠错和辅助；三是落地协作闭环，打通了设计到开发的壁垒。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更重要的是，这个平台是真实可用的，我们已经在公网环境部署，只需要轻量的服务器资源就能运行，支持多终端访问，非常轻量化。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大家可以看到底部的流程图，从需求输入到最终的团队协作，每一步都有AI的深度赋能，极大地提升了研发效率。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各位好，这一页我们来深入了解智能建模的核心能力。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首先是“自由智能画布”，它不仅仅是绘图工具，而是内置了UML、ArchiMate和ER模型三套专业画布，并且支持元素的自适应排布，解决了传统绘图中元素重叠、对齐难的问题。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其次是“自然语言一键建模”，这是AI带来的革命性改变。您只需输入一句话描述或者直接粘贴需求文档，AI就能瞬间生成标准的类图，大大缩短了从需求到设计的时间。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最后是“设计模式智能库”，系统内置了23种经典的设计模式，不仅可以一键插入，AI还能根据您当前的架构情况，智能推荐最合适的设计模式，帮助您构建更健壮、更具扩展性的系统架构。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这一页我们来深入了解“支柱二 · 内核级 AI”。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我们认为，AI 不应仅仅是一个外挂工具，而应该成为产品的内核驱动力。它贯穿了从建模、校验、评审到生成、协作的整个研发流程。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具体来看，我们实现了四个关键功能：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首先是内核级嵌入，AI 不是独立的插件，而是深度融入研发的每一个环节。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其次是智能协助，它能进行语义校验、架构评审，甚至通过对话式交互辅助我们进行深度思考。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第三是构建了 AI 项目知识库，它能自动记录每一次的操作结论，让 AI 真正理解我们的项目背景。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最后是健康度分析，就像给架构做体检，不仅打分，还能给出具体的改进建议。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这正是我们所说的“AI 不是外挂，是内核”。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这一页展示了我们系统的整体技术架构，采用了经典的分层设计，确保了系统的高内聚低耦合。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首先是最顶层的前端交互层，我们使用了目前最流行的 Vue3 全家桶，配合 TypeScript 保证代码健壮性，Vite 提供极速的构建体验。为了满足复杂的可视化需求，我们集成了三套独立的画布引擎，并设计了灵活的 Ribbon 功能区。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中间的后端服务层，基于 Flask 框架构建，特别引入了 Flask-SocketIO 来实现 WebSocket 通信，这对于我们的实时协作功能至关重要，保证了数据的毫秒级同步。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在数据存储方面，我们选用了 SQLite，它轻量且高效，非常适合我们的应用场景，能够很好地平衡性能与部署的便捷性。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核心的智能层，我们深度集成了 DeepSeek 大模型，利用其强大的长上下文处理能力（支持4096以上的tokens），为用户提供智能的代码生成和逻辑推理辅助。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最后是底层的部署运维，我们将系统部署在稳定的云服务器上，利用 systemd 进行服务管理，确保系统能够稳定运行并对外提供服务。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这一页我们来探讨一下企业应用的核心价值。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首先是“降门槛”，我们通过自然语言建模技术，让不懂代码的业务人员也能参与到系统设计中来，不再完全依赖架构师的手工画图，大大降低了沟通成本。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其次是“提效率”，传统的架构设计可能需要几天甚至几周，而现在可以缩短到分钟级，并且设计完成后能自动生成代码和数据库脚本，效率提升非常显著。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第三是“保质量”，利用AI技术在代码编写前就进行校验和评审，提前发现潜在的设计缺陷，从源头保障系统质量，避免后期大量的返工。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最后是“强协作”，支持多人实时在线协作，并且有完善的变更审批和追溯机制，确保团队协同有序，也能沉淀企业的架构资产。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各位好，这一页我们来概览一下平台的十大核心亮点。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首先是智能建模方面，我们提供了自由智能画布，支持一键通过自然语言生成类图，并且内置了23种经典设计模式的智能库，极大地提升了建模效率。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在AI内核层面，我们做到了内核级的AI嵌入，不仅有智能AI协助，还具备AI项目知识库和系统健康度分析，让系统更聪明、更健壮。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最后在落地协作方面，我们支持双流程落地，实现了多人GitHub式的高效协作，并且提供完善的模型版本管理，确保团队协作的一致性和可追溯性。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总的来说，这些功能的核心价值在于：极大地简化了项目落地的门槛和难度，实现了从业务需求到代码交付的高效闭环。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各位好，今天的分享到这里就接近尾声了。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我们回顾一下，核心在于实现了从“业务的一句话”到“可运行的代码和数据库”的跨越。这不仅仅是技术的升级，更是一种全新的工作方式。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通过AI原生平台，我们让复杂的企业架构不再是专家的“黑盒”，而是变成了全员可参与的标准化流程。这带来了三个显著的改变：建模变得前所未有的简单，AI更懂你的业务意图，以及方案落地更加直接高效。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最后，感谢大家的聆听，现在欢迎大家提问交流。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各位，今天我们一起探讨了如何利用AI原生平台实现从业务需求到技术实现的无缝转化。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我们看到，这种方式不仅让建模变得更加简单直观，更重要的是，它打破了过去只有专家才能参与的“黑盒”模式，让业务人员和技术人员能够用同一种语言对话。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AI在这里不仅仅是辅助工具，更是真正理解业务意图的合作伙伴，它让我们的架构落地变得前所未有的直接和高效。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希望今天的分享能给大家带来启发，现在进入问答环节，欢迎大家提问。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762000" y="-762000"/>
            <a:ext cx="3048000" cy="3048000"/>
          </a:xfrm>
          <a:prstGeom prst="ellipse">
            <a:avLst/>
          </a:prstGeom>
          <a:solidFill>
            <a:srgbClr val="6C5CE7">
              <a:alpha val="8000"/>
            </a:srgbClr>
          </a:solidFill>
          <a:ln cmpd="sng" cap="flat">
            <a:solidFill>
              <a:srgbClr val="4E3DC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207000"/>
            <a:ext cx="2540000" cy="2286000"/>
          </a:xfrm>
          <a:prstGeom prst="ellipse">
            <a:avLst/>
          </a:prstGeom>
          <a:solidFill>
            <a:srgbClr val="6C5CE7">
              <a:alpha val="8000"/>
            </a:srgbClr>
          </a:solidFill>
          <a:ln cmpd="sng" cap="flat">
            <a:solidFill>
              <a:srgbClr val="4E3DC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AI 原生企业架构建模平台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921000" y="3492500"/>
            <a:ext cx="6350000" cy="50800"/>
          </a:xfrm>
          <a:prstGeom prst="roundRect">
            <a:avLst>
              <a:gd name="adj" fmla="val 0"/>
            </a:avLst>
          </a:prstGeom>
          <a:solidFill>
            <a:srgbClr val="00B894">
              <a:alpha val="100000"/>
            </a:srgbClr>
          </a:solidFill>
          <a:ln cmpd="sng" cap="flat">
            <a:solidFill>
              <a:srgbClr val="009F7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93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2D3436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一句话出图 · 智能协作 · 设计直接落地代码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36E7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AI 原生企业架构设计的一体化平台 ——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0" y="596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2BEC3"/>
                </a:solidFill>
                <a:latin typeface="Noto Sans SC"/>
                <a:ea typeface="Noto Sans SC"/>
                <a:cs typeface="Noto Sans SC"/>
                <a:sym typeface="Noto Sans SC"/>
              </a:rPr>
              <a:t>竞赛作品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0B89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行业痛点：企业架构设计难在哪？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335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B89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778000"/>
            <a:ext cx="101600" cy="2095500"/>
          </a:xfrm>
          <a:prstGeom prst="roundRect">
            <a:avLst>
              <a:gd name="adj" fmla="val 0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1905000"/>
            <a:ext cx="4953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01 建模门槛高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只有资深架构师能熟练绘制 UML 或 ArchiMate 专业图表，业务人员因缺乏专业技能难以参与，导致架构设计与真实业务需求脱节，沟通成本居高不下。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101600" cy="2095500"/>
          </a:xfrm>
          <a:prstGeom prst="roundRect">
            <a:avLst>
              <a:gd name="adj" fmla="val 0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40500" y="1905000"/>
            <a:ext cx="4953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02 画图效率低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复杂的企业架构图手工绘制动辄耗时一两天，且后期需求变更时，牵一发而动全身，反复调整不仅浪费时间，还极易出现遗漏和逻辑错误，严重拖慢项目进度。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4191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4191000"/>
            <a:ext cx="101600" cy="2095500"/>
          </a:xfrm>
          <a:prstGeom prst="roundRect">
            <a:avLst>
              <a:gd name="adj" fmla="val 0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4318000"/>
            <a:ext cx="4953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03 设计开发脱节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架构设计图往往停留在文档层面，开发阶段难以严格遵循，最终代码实现与设计蓝图严重偏离，导致系统架构混乱，后期维护难度呈指数级上升。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191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101600" cy="2095500"/>
          </a:xfrm>
          <a:prstGeom prst="roundRect">
            <a:avLst>
              <a:gd name="adj" fmla="val 0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4318000"/>
            <a:ext cx="4953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04 协作版本失控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团队多人同时编辑架构图时，缺乏有效的版本管理机制，频繁出现修改互相覆盖、历史版本丢失的情况，导致团队协作效率低下，沟通成本激增。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00B894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方案：AI 原生全流程建模平台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3810000" cy="50800"/>
          </a:xfrm>
          <a:prstGeom prst="roundRect">
            <a:avLst>
              <a:gd name="adj" fmla="val 0"/>
            </a:avLst>
          </a:prstGeom>
          <a:solidFill>
            <a:srgbClr val="00B89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6C5CE7">
              <a:alpha val="6000"/>
            </a:srgbClr>
          </a:solidFill>
          <a:ln w="12700" cmpd="sng" cap="flat">
            <a:solidFill>
              <a:srgbClr val="6C5CE7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68500"/>
            <a:ext cx="635000" cy="635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968500"/>
            <a:ext cx="63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032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AI 全程参与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27940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从需求描述到建模设计，再到智能校验与评审，自动生成代码与数据库结构，最后无缝衔接团队协作，实现全链路一站式闭环承接。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77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00B894">
              <a:alpha val="6000"/>
            </a:srgbClr>
          </a:solidFill>
          <a:ln w="12700" cmpd="sng" cap="flat">
            <a:solidFill>
              <a:srgbClr val="00B89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572000" y="1968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334000" y="2032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三大核心支柱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08500" y="27940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依托</a:t>
            </a:r>
            <a:r>
              <a:rPr lang="en-US" b="true" i="false" strike="noStrike" u="none" sz="14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智能建模引擎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解析需求，结合</a:t>
            </a:r>
            <a:r>
              <a:rPr lang="en-US" b="true" i="false" strike="noStrike" u="none" sz="14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内核级AI融合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实现实时纠错，通过</a:t>
            </a:r>
            <a:r>
              <a:rPr lang="en-US" b="true" i="false" strike="noStrike" u="none" sz="14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落地协作闭环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打通产研壁垒，重塑建模生产力。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778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12700" cmpd="sng" cap="flat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144000" y="2032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真实落地可用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27940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已部署公网环境，仅需2核2G轻量服务器即可稳定运行，支持PC、平板、手机多终端无缝访问，轻量化部署降低运维成本，开箱即用。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4762500"/>
            <a:ext cx="1143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全流程智能化闭环链路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53975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539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79500" y="5397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需求描述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自然语言输入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476500" y="5524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2857500" y="53975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857500" y="539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29000" y="5397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AI智能建模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自动生成模型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826000" y="5524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5207000" y="53975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207000" y="539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778500" y="5397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校验评审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智能纠错合规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75500" y="5524500"/>
            <a:ext cx="254000" cy="254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7556500" y="53975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556500" y="539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128000" y="5397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资产自动输出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0" y="5524500"/>
            <a:ext cx="254000" cy="2540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9906000" y="53975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906000" y="5397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0477500" y="5397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实时同步协同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0B89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635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支柱一 · 智能建模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397000"/>
            <a:ext cx="1117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AI 原生 Enterprise Architect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3556000" cy="330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6C5CE7">
                  <a:alpha val="2000"/>
                </a:srgbClr>
              </a:gs>
            </a:gsLst>
            <a:lin ang="5400000"/>
          </a:gradFill>
          <a:ln w="12700" cmpd="sng" cap="flat">
            <a:solidFill>
              <a:srgbClr val="6C5CE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603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416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自由智能画布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762013" y="3232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5CE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3429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内置UML类图、ArchiMate企业架构、ER数据模型三套专业画布。支持元素自适应排布与自动防重叠，拖拽即可完成复杂架构布局，彻底告别手动对齐的繁琐。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2286000"/>
            <a:ext cx="3556000" cy="330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6C5CE7">
                  <a:alpha val="2000"/>
                </a:srgbClr>
              </a:gs>
            </a:gsLst>
            <a:lin ang="5400000"/>
          </a:gradFill>
          <a:ln w="12700" cmpd="sng" cap="flat">
            <a:solidFill>
              <a:srgbClr val="6C5CE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603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07000" y="26416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自然语言一键建模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4572013" y="3232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5CE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72000" y="3429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输入一句话需求或粘贴整段文档，AI 秒级生成标准类图。智能解析业务描述并自动映射为架构元素，实现从自然语言到可视化模型的即时转化，大幅降低建模门槛。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286000"/>
            <a:ext cx="3556000" cy="330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6C5CE7">
                  <a:alpha val="2000"/>
                </a:srgbClr>
              </a:gs>
            </a:gsLst>
            <a:lin ang="5400000"/>
          </a:gradFill>
          <a:ln w="12700" cmpd="sng" cap="flat">
            <a:solidFill>
              <a:srgbClr val="6C5CE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6035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017000" y="26416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设计模式智能库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323" flipH="false" flipV="false">
            <a:off x="8382013" y="3232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5CE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382000" y="3429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集成23种经典 GoF 设计模式模板，支持一键插入架构图。AI 实时分析当前系统结构，智能推荐适配的设计模式，并提供代码级覆盖重写建议，助力架构标准化。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6096000"/>
            <a:ext cx="11176000" cy="25400"/>
          </a:xfrm>
          <a:prstGeom prst="roundRect">
            <a:avLst>
              <a:gd name="adj" fmla="val 0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0B894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支柱二 · 内核级 AI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AI 不是外挂，是内核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413000"/>
            <a:ext cx="406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4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AI贯穿</a:t>
            </a:r>
            <a:r>
              <a:rPr lang="en-US" b="true" i="false" strike="noStrike" u="none" sz="4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4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4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400" y="400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89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4318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建模 · 校验 · 评审 · 生成 · 协作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5080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36E72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从需求分析到代码交付，AI 深度融入研发全生命周期，不再是锦上添花的工具，而是驱动产品进化的底层基因。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22860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6C5CE7">
              <a:alpha val="6000"/>
            </a:srgbClr>
          </a:solidFill>
          <a:ln w="12700" cmpd="sng" cap="flat">
            <a:solidFill>
              <a:srgbClr val="6C5CE7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143500" y="2476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524500" y="2438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内核级 AI 嵌入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143500" y="2984500"/>
            <a:ext cx="298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F7F"/>
                </a:solidFill>
                <a:latin typeface="Noto Sans SC"/>
                <a:ea typeface="Noto Sans SC"/>
                <a:cs typeface="Noto Sans SC"/>
                <a:sym typeface="Noto Sans SC"/>
              </a:rPr>
              <a:t>AI 深度贯穿建模、校验、评审、生成与协作全流程，将智能能力无缝植入研发每一环，实现工具与流程的深度融合。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45500" y="22860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00B894">
              <a:alpha val="6000"/>
            </a:srgbClr>
          </a:solidFill>
          <a:ln w="12700" cmpd="sng" cap="flat">
            <a:solidFill>
              <a:srgbClr val="00B894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636000" y="2476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017000" y="2438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 AI 协助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36000" y="2984500"/>
            <a:ext cx="298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F7F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提供模型语义智能校验、架构自动评审与元素分析，支持对话式编辑，基于上下文进行深度逻辑推理与优化建议。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953000" y="44450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6C5CE7">
              <a:alpha val="6000"/>
            </a:srgbClr>
          </a:solidFill>
          <a:ln w="12700" cmpd="sng" cap="flat">
            <a:solidFill>
              <a:srgbClr val="6C5CE7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143500" y="4635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524500" y="4597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AI 项目知识库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143500" y="5143500"/>
            <a:ext cx="298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F7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自动沉淀每次 AI 交互结论与设计决策，持续构建项目专属知识库，让 AI 真正读懂项目脉络，提供精准的上下文支持。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445500" y="44450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00B894">
              <a:alpha val="6000"/>
            </a:srgbClr>
          </a:solidFill>
          <a:ln w="12700" cmpd="sng" cap="flat">
            <a:solidFill>
              <a:srgbClr val="00B894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636000" y="4635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017000" y="4597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健康度分析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36000" y="5143500"/>
            <a:ext cx="298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F7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一键启动架构体检，AI 深度扫描并生成健康评分，精准定位设计缺陷与风险点，输出可落地的优化改进方案。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0CEB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065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651000"/>
            <a:ext cx="11176000" cy="863600"/>
          </a:xfrm>
          <a:prstGeom prst="roundRect">
            <a:avLst>
              <a:gd name="adj" fmla="val 0"/>
            </a:avLst>
          </a:prstGeom>
          <a:solidFill>
            <a:srgbClr val="6C5CE7">
              <a:alpha val="8000"/>
            </a:srgbClr>
          </a:solidFill>
          <a:ln cmpd="sng" cap="flat">
            <a:solidFill>
              <a:srgbClr val="4E3DC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98500" y="18288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18288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17526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交互层架构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｜ Vue3 + TypeScript + Vite 核心栈，集成三套独立画布渲染引擎与Ribbon动态功能区，实现低延迟、高响应的可视化交互体验。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25654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8000" y="2641600"/>
            <a:ext cx="11176000" cy="863600"/>
          </a:xfrm>
          <a:prstGeom prst="roundRect">
            <a:avLst>
              <a:gd name="adj" fmla="val 0"/>
            </a:avLst>
          </a:prstGeom>
          <a:solidFill>
            <a:srgbClr val="00CEB4">
              <a:alpha val="8000"/>
            </a:srgbClr>
          </a:solidFill>
          <a:ln cmpd="sng" cap="flat">
            <a:solidFill>
              <a:srgbClr val="00B49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2819400"/>
            <a:ext cx="508000" cy="508000"/>
          </a:xfrm>
          <a:prstGeom prst="ellipse">
            <a:avLst/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8500" y="28194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97000" y="27432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B4A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实时服务层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｜ 基于 Flask + Flask-SocketIO 构建高并发服务端，支持 WebSocket 双向实时通信，保障多人在线协作与数据毫秒级同步。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3556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08000" y="3606800"/>
            <a:ext cx="11176000" cy="863600"/>
          </a:xfrm>
          <a:prstGeom prst="roundRect">
            <a:avLst>
              <a:gd name="adj" fmla="val 0"/>
            </a:avLst>
          </a:prstGeom>
          <a:solidFill>
            <a:srgbClr val="616161">
              <a:alpha val="8000"/>
            </a:srgbClr>
          </a:solidFill>
          <a:ln cmpd="sng" cap="flat">
            <a:solidFill>
              <a:srgbClr val="48404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" y="3784600"/>
            <a:ext cx="508000" cy="508000"/>
          </a:xfrm>
          <a:prstGeom prst="ellipse">
            <a:avLst/>
          </a:prstGeom>
          <a:solidFill>
            <a:srgbClr val="61616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8500" y="37846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存储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397000" y="37084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数据持久化层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｜ 采用 SQLite 轻量级嵌入式数据库，实现项目配置、历史记录与协作数据的持久化存储，兼顾系统轻量化与数据读写效率。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45212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08000" y="4572000"/>
            <a:ext cx="11176000" cy="863600"/>
          </a:xfrm>
          <a:prstGeom prst="roundRect">
            <a:avLst>
              <a:gd name="adj" fmla="val 0"/>
            </a:avLst>
          </a:prstGeom>
          <a:solidFill>
            <a:srgbClr val="6C5CE7">
              <a:alpha val="8000"/>
            </a:srgbClr>
          </a:solidFill>
          <a:ln cmpd="sng" cap="flat">
            <a:solidFill>
              <a:srgbClr val="4E3DC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" y="4749800"/>
            <a:ext cx="508000" cy="508000"/>
          </a:xfrm>
          <a:prstGeom prst="ellipse">
            <a:avLst/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8500" y="47498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397000" y="46736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智能推理引擎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｜ 深度集成 DeepSeek 大模型，支持 max_tokens 4096+ 长上下文处理，实现代码生成、逻辑推理与结构化内容的智能辅助生成。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54864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08000" y="5537200"/>
            <a:ext cx="11176000" cy="863600"/>
          </a:xfrm>
          <a:prstGeom prst="roundRect">
            <a:avLst>
              <a:gd name="adj" fmla="val 0"/>
            </a:avLst>
          </a:prstGeom>
          <a:solidFill>
            <a:srgbClr val="00CEB4">
              <a:alpha val="8000"/>
            </a:srgbClr>
          </a:solidFill>
          <a:ln cmpd="sng" cap="flat">
            <a:solidFill>
              <a:srgbClr val="00B49E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8500" y="5715000"/>
            <a:ext cx="508000" cy="508000"/>
          </a:xfrm>
          <a:prstGeom prst="ellipse">
            <a:avLst/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98500" y="5715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397000" y="56388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0B4A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基础设施层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｜ 部署于高性能云服务器（2核2G），通过 systemd 实现服务自启动与常驻运行，配置独立公网IP，确保服务7x24小时稳定可访问。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00B89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企业应用价值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20650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B89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651000"/>
            <a:ext cx="5461000" cy="2222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00B894">
                  <a:alpha val="8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6C5CE7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9304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1905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降门槛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6035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打破技术壁垒，业务人员通过 </a:t>
            </a:r>
            <a:r>
              <a:rPr lang="en-US" b="true" i="false" strike="noStrike" u="none" sz="15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自然语言直接参与建模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，无需依赖架构师手工画图，让业务需求与技术设计无缝衔接，降低沟通成本。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461000" cy="2222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00B894">
                  <a:alpha val="8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6C5CE7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9304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1905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提效率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6035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架构设计周期从传统的 </a:t>
            </a:r>
            <a:r>
              <a:rPr lang="en-US" b="true" i="false" strike="noStrike" u="none" sz="15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天级缩短至分钟级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，实现从设计图到代码、数据库脚本的 </a:t>
            </a:r>
            <a:r>
              <a:rPr lang="en-US" b="true" i="false" strike="noStrike" u="none" sz="15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全自动生成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，极大释放研发生产力。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4127500"/>
            <a:ext cx="5461000" cy="2222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00B894">
                  <a:alpha val="8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6C5CE7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4069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381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保质量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0800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</a:t>
            </a:r>
            <a:r>
              <a:rPr lang="en-US" b="true" i="false" strike="noStrike" u="none" sz="15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智能校验与自动评审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，在代码编写前提前识别设计缺陷与架构风险，从源头保障系统质量，大幅减少后期返工成本。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127500"/>
            <a:ext cx="5461000" cy="2222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00B894">
                  <a:alpha val="8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6C5CE7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406900"/>
            <a:ext cx="457200" cy="457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4381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强协作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50800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支持团队 </a:t>
            </a:r>
            <a:r>
              <a:rPr lang="en-US" b="true" i="false" strike="noStrike" u="none" sz="1500">
                <a:solidFill>
                  <a:srgbClr val="00B894"/>
                </a:solidFill>
                <a:latin typeface="Noto Sans SC"/>
                <a:ea typeface="Noto Sans SC"/>
                <a:cs typeface="Noto Sans SC"/>
                <a:sym typeface="Noto Sans SC"/>
              </a:rPr>
              <a:t>多人实时在线协作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，配合完善的变更审批与版本追溯机制，让架构设计过程透明有序，有效沉淀企业级架构资产。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00CEB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10 大亮点总览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065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3556000" cy="952500"/>
          </a:xfrm>
          <a:prstGeom prst="roundRect">
            <a:avLst>
              <a:gd name="adj" fmla="val 13333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7780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自由智能画布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1778000"/>
            <a:ext cx="3556000" cy="952500"/>
          </a:xfrm>
          <a:prstGeom prst="roundRect">
            <a:avLst>
              <a:gd name="adj" fmla="val 13333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17780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一键自然语言生成类图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778000"/>
            <a:ext cx="3556000" cy="952500"/>
          </a:xfrm>
          <a:prstGeom prst="roundRect">
            <a:avLst>
              <a:gd name="adj" fmla="val 13333"/>
            </a:avLst>
          </a:prstGeom>
          <a:solidFill>
            <a:srgbClr val="6C5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23种设计模式智能库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3111500"/>
            <a:ext cx="2667000" cy="952500"/>
          </a:xfrm>
          <a:prstGeom prst="roundRect">
            <a:avLst>
              <a:gd name="adj" fmla="val 13333"/>
            </a:avLst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3111500"/>
            <a:ext cx="266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内核级AI嵌入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40100" y="3111500"/>
            <a:ext cx="2667000" cy="952500"/>
          </a:xfrm>
          <a:prstGeom prst="roundRect">
            <a:avLst>
              <a:gd name="adj" fmla="val 13333"/>
            </a:avLst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40100" y="3111500"/>
            <a:ext cx="266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智能AI协助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72200" y="3111500"/>
            <a:ext cx="2667000" cy="952500"/>
          </a:xfrm>
          <a:prstGeom prst="roundRect">
            <a:avLst>
              <a:gd name="adj" fmla="val 13333"/>
            </a:avLst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72200" y="3111500"/>
            <a:ext cx="266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AI项目知识库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17000" y="3111500"/>
            <a:ext cx="2667000" cy="952500"/>
          </a:xfrm>
          <a:prstGeom prst="roundRect">
            <a:avLst>
              <a:gd name="adj" fmla="val 13333"/>
            </a:avLst>
          </a:prstGeom>
          <a:solidFill>
            <a:srgbClr val="00CE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17000" y="3111500"/>
            <a:ext cx="266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健康度分析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4445000"/>
            <a:ext cx="3556000" cy="952500"/>
          </a:xfrm>
          <a:prstGeom prst="roundRect">
            <a:avLst>
              <a:gd name="adj" fmla="val 13333"/>
            </a:avLst>
          </a:prstGeom>
          <a:solidFill>
            <a:srgbClr val="4B4B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44450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双流程落地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18000" y="4445000"/>
            <a:ext cx="3556000" cy="952500"/>
          </a:xfrm>
          <a:prstGeom prst="roundRect">
            <a:avLst>
              <a:gd name="adj" fmla="val 13333"/>
            </a:avLst>
          </a:prstGeom>
          <a:solidFill>
            <a:srgbClr val="4B4B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18000" y="44450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多人GitHub式协作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4445000"/>
            <a:ext cx="3556000" cy="952500"/>
          </a:xfrm>
          <a:prstGeom prst="roundRect">
            <a:avLst>
              <a:gd name="adj" fmla="val 13333"/>
            </a:avLst>
          </a:prstGeom>
          <a:solidFill>
            <a:srgbClr val="4B4B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4445000"/>
            <a:ext cx="355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模型版本管理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8000" y="5651500"/>
            <a:ext cx="11176000" cy="825500"/>
          </a:xfrm>
          <a:prstGeom prst="roundRect">
            <a:avLst>
              <a:gd name="adj" fmla="val 15384"/>
            </a:avLst>
          </a:prstGeom>
          <a:solidFill>
            <a:srgbClr val="6C5CE7">
              <a:alpha val="8000"/>
            </a:srgbClr>
          </a:solidFill>
          <a:ln w="12700" cmpd="sng" cap="flat">
            <a:solidFill>
              <a:srgbClr val="6C5CE7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8500" y="5651500"/>
            <a:ext cx="152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5298918" flipH="false" flipV="false">
            <a:off x="2006600" y="6026243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5CE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2413000" y="5651500"/>
            <a:ext cx="914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简化项目落地门槛和难度 —— 业务一句话 → AI 智能建模 → 自动生成代码数据库 → 高效团队协作交付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6C5CE7">
              <a:alpha val="5000"/>
            </a:srgbClr>
          </a:solidFill>
          <a:ln cmpd="sng" cap="flat">
            <a:solidFill>
              <a:srgbClr val="4E3DCE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00CEB4">
              <a:alpha val="5000"/>
            </a:srgbClr>
          </a:solidFill>
          <a:ln cmpd="sng" cap="flat">
            <a:solidFill>
              <a:srgbClr val="00B49E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1651000"/>
            <a:ext cx="10922000" cy="1841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6000"/>
                </a:srgbClr>
              </a:gs>
              <a:gs pos="100000">
                <a:srgbClr val="6C5CE7">
                  <a:alpha val="12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4E3DCE">
                    <a:alpha val="6000"/>
                  </a:srgbClr>
                </a:gs>
                <a:gs pos="100000">
                  <a:srgbClr val="4E3DCE">
                    <a:alpha val="1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05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从“业务的一句话”到“可运行的代码和数据库”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7305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原生平台全流程承接，让企业架构从专家黑盒变成全员可参与的标准化流程，打通业务与技术的最后一公里，实现架构资产的自动化沉淀与复用。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3937000"/>
            <a:ext cx="152400" cy="152400"/>
          </a:xfrm>
          <a:prstGeom prst="ellipse">
            <a:avLst/>
          </a:prstGeom>
          <a:solidFill>
            <a:srgbClr val="00CEB4">
              <a:alpha val="100000"/>
            </a:srgbClr>
          </a:solidFill>
          <a:ln cmpd="sng" cap="flat">
            <a:solidFill>
              <a:srgbClr val="00B49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51000" y="3873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建模更简单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自然语言驱动，降低建模门槛，让业务人员也能轻松上手</a:t>
            </a:r>
          </a:p>
        </p:txBody>
      </p:sp>
      <p:cxnSp>
        <p:nvCxnSpPr>
          <p:cNvPr name="Connector 10" id="10"/>
          <p:cNvCxnSpPr/>
          <p:nvPr/>
        </p:nvCxnSpPr>
        <p:spPr>
          <a:xfrm rot="5342709" flipH="false" flipV="false">
            <a:off x="4000500" y="4375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699000" y="3937000"/>
            <a:ext cx="152400" cy="152400"/>
          </a:xfrm>
          <a:prstGeom prst="ellipse">
            <a:avLst/>
          </a:prstGeom>
          <a:solidFill>
            <a:srgbClr val="00CEB4">
              <a:alpha val="100000"/>
            </a:srgbClr>
          </a:solidFill>
          <a:ln cmpd="sng" cap="flat">
            <a:solidFill>
              <a:srgbClr val="00B49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53000" y="3873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AI 更懂你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智能理解业务意图，精准映射业务术语与技术实现</a:t>
            </a:r>
          </a:p>
        </p:txBody>
      </p:sp>
      <p:cxnSp>
        <p:nvCxnSpPr>
          <p:cNvPr name="Connector 13" id="13"/>
          <p:cNvCxnSpPr/>
          <p:nvPr/>
        </p:nvCxnSpPr>
        <p:spPr>
          <a:xfrm rot="5342709" flipH="false" flipV="false">
            <a:off x="7302500" y="4375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001000" y="3937000"/>
            <a:ext cx="152400" cy="152400"/>
          </a:xfrm>
          <a:prstGeom prst="ellipse">
            <a:avLst/>
          </a:prstGeom>
          <a:solidFill>
            <a:srgbClr val="00CEB4">
              <a:alpha val="100000"/>
            </a:srgbClr>
          </a:solidFill>
          <a:ln cmpd="sng" cap="flat">
            <a:solidFill>
              <a:srgbClr val="00B49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3873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落地更直接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自动生成代码与数据库资产，快速赋能业务系统开发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52705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谢谢！Q&amp;A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6159500"/>
            <a:ext cx="2540000" cy="50800"/>
          </a:xfrm>
          <a:prstGeom prst="roundRect">
            <a:avLst>
              <a:gd name="adj" fmla="val 0"/>
            </a:avLst>
          </a:prstGeom>
          <a:solidFill>
            <a:srgbClr val="00CEB4">
              <a:alpha val="100000"/>
            </a:srgbClr>
          </a:solidFill>
          <a:ln cmpd="sng" cap="flat">
            <a:solidFill>
              <a:srgbClr val="00B49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6C5CE7">
              <a:alpha val="5000"/>
            </a:srgbClr>
          </a:solidFill>
          <a:ln cmpd="sng" cap="flat">
            <a:solidFill>
              <a:srgbClr val="4E3DCE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0B894">
              <a:alpha val="5000"/>
            </a:srgbClr>
          </a:solidFill>
          <a:ln cmpd="sng" cap="flat">
            <a:solidFill>
              <a:srgbClr val="009F7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76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1841500"/>
            <a:ext cx="10922000" cy="177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6C5CE7">
                  <a:alpha val="8000"/>
                </a:srgbClr>
              </a:gs>
              <a:gs pos="100000">
                <a:srgbClr val="6C5CE7">
                  <a:alpha val="2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4E3DCE">
                    <a:alpha val="8000"/>
                  </a:srgbClr>
                </a:gs>
                <a:gs pos="100000">
                  <a:srgbClr val="4E3DCE">
                    <a:alpha val="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1590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从“业务的一句话”到“可运行的代码和数据库”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8575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AI 原生平台全流程承接，打破传统架构设计的专家壁垒，将复杂的架构规划转化为全员可参与、可理解、可执行的标准化流程，让业务需求与技术实现无缝衔接。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55800" y="4254500"/>
            <a:ext cx="152400" cy="152400"/>
          </a:xfrm>
          <a:prstGeom prst="ellipse">
            <a:avLst/>
          </a:prstGeom>
          <a:solidFill>
            <a:srgbClr val="00B894">
              <a:alpha val="100000"/>
            </a:srgbClr>
          </a:solidFill>
          <a:ln cmpd="sng" cap="flat">
            <a:solidFill>
              <a:srgbClr val="009F7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4572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建模更简单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14074" flipH="false" flipV="false">
            <a:off x="3810000" y="4692729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5CE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019800" y="4254500"/>
            <a:ext cx="152400" cy="152400"/>
          </a:xfrm>
          <a:prstGeom prst="ellipse">
            <a:avLst/>
          </a:prstGeom>
          <a:solidFill>
            <a:srgbClr val="00B894">
              <a:alpha val="100000"/>
            </a:srgbClr>
          </a:solidFill>
          <a:ln cmpd="sng" cap="flat">
            <a:solidFill>
              <a:srgbClr val="009F7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4572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AI 更懂你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14074" flipH="false" flipV="false">
            <a:off x="7874000" y="4692729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5CE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9575800" y="4254500"/>
            <a:ext cx="152400" cy="152400"/>
          </a:xfrm>
          <a:prstGeom prst="ellipse">
            <a:avLst/>
          </a:prstGeom>
          <a:solidFill>
            <a:srgbClr val="00B894">
              <a:alpha val="100000"/>
            </a:srgbClr>
          </a:solidFill>
          <a:ln cmpd="sng" cap="flat">
            <a:solidFill>
              <a:srgbClr val="009F7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45720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落地更直接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546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6C5CE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谢谢！Q&amp;A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6223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0B894">
              <a:alpha val="100000"/>
            </a:srgbClr>
          </a:solidFill>
          <a:ln cmpd="sng" cap="flat">
            <a:solidFill>
              <a:srgbClr val="009F7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{"Label":"1","ContentProducer":"001191110102MACQD9K64010000","ProduceID":"7679080572794342642","ReservedCode1":"","ContentPropagator":"","PropagateID":"","ReservedCode2":""}</vt:lpwstr>
  </property>
</Properties>
</file>